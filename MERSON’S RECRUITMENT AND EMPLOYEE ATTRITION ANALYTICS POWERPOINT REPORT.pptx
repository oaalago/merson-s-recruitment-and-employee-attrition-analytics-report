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varies by recruitment source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3A-443B-8083-F84FE9C59D32}"/>
              </c:ext>
            </c:extLst>
          </c:dPt>
          <c:dPt>
            <c:idx val="1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3A-443B-8083-F84FE9C59D32}"/>
              </c:ext>
            </c:extLst>
          </c:dPt>
          <c:dPt>
            <c:idx val="2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3A-443B-8083-F84FE9C59D32}"/>
              </c:ext>
            </c:extLst>
          </c:dPt>
          <c:dPt>
            <c:idx val="3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A3A-443B-8083-F84FE9C59D32}"/>
              </c:ext>
            </c:extLst>
          </c:dPt>
          <c:dPt>
            <c:idx val="4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A3A-443B-8083-F84FE9C59D32}"/>
              </c:ext>
            </c:extLst>
          </c:dPt>
          <c:dPt>
            <c:idx val="5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A3A-443B-8083-F84FE9C59D32}"/>
              </c:ext>
            </c:extLst>
          </c:dPt>
          <c:dPt>
            <c:idx val="6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A3A-443B-8083-F84FE9C59D3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4F1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Diversity Job Fair</c:v>
                </c:pt>
                <c:pt idx="1">
                  <c:v>Employee Referral</c:v>
                </c:pt>
                <c:pt idx="2">
                  <c:v>Indeed</c:v>
                </c:pt>
                <c:pt idx="3">
                  <c:v>LinkedIn</c:v>
                </c:pt>
                <c:pt idx="4">
                  <c:v>CareerBuilder</c:v>
                </c:pt>
                <c:pt idx="5">
                  <c:v>Website</c:v>
                </c:pt>
                <c:pt idx="6">
                  <c:v>Google Search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20.7</c:v>
                </c:pt>
                <c:pt idx="1">
                  <c:v>16.100000000000001</c:v>
                </c:pt>
                <c:pt idx="2">
                  <c:v>13.8</c:v>
                </c:pt>
                <c:pt idx="3">
                  <c:v>11.8</c:v>
                </c:pt>
                <c:pt idx="4">
                  <c:v>8.6999999999999993</c:v>
                </c:pt>
                <c:pt idx="5">
                  <c:v>7.7</c:v>
                </c:pt>
                <c:pt idx="6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A3A-443B-8083-F84FE9C59D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Terminations cluster in a few channels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4E-479C-9AC4-6CE0902534C5}"/>
              </c:ext>
            </c:extLst>
          </c:dPt>
          <c:dPt>
            <c:idx val="1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4E-479C-9AC4-6CE0902534C5}"/>
              </c:ext>
            </c:extLst>
          </c:dPt>
          <c:dPt>
            <c:idx val="2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4E-479C-9AC4-6CE0902534C5}"/>
              </c:ext>
            </c:extLst>
          </c:dPt>
          <c:dPt>
            <c:idx val="3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4E-479C-9AC4-6CE0902534C5}"/>
              </c:ext>
            </c:extLst>
          </c:dPt>
          <c:dPt>
            <c:idx val="4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4E-479C-9AC4-6CE0902534C5}"/>
              </c:ext>
            </c:extLst>
          </c:dPt>
          <c:dPt>
            <c:idx val="5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4E-479C-9AC4-6CE0902534C5}"/>
              </c:ext>
            </c:extLst>
          </c:dPt>
          <c:dPt>
            <c:idx val="6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4E-479C-9AC4-6CE0902534C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4F1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Google Search</c:v>
                </c:pt>
                <c:pt idx="1">
                  <c:v>Indeed</c:v>
                </c:pt>
                <c:pt idx="2">
                  <c:v>LinkedIn</c:v>
                </c:pt>
                <c:pt idx="3">
                  <c:v>Diversity Job Fair</c:v>
                </c:pt>
                <c:pt idx="4">
                  <c:v>CareerBuilder</c:v>
                </c:pt>
                <c:pt idx="5">
                  <c:v>Employee Referral</c:v>
                </c:pt>
                <c:pt idx="6">
                  <c:v>Website / Web App / 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21</c:v>
                </c:pt>
                <c:pt idx="2">
                  <c:v>18</c:v>
                </c:pt>
                <c:pt idx="3">
                  <c:v>16</c:v>
                </c:pt>
                <c:pt idx="4">
                  <c:v>11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24E-479C-9AC4-6CE0902534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Why employees leave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1D-4CA2-B072-C38EE827175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51D-4CA2-B072-C38EE827175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51D-4CA2-B072-C38EE827175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51D-4CA2-B072-C38EE827175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51D-4CA2-B072-C38EE8271752}"/>
              </c:ext>
            </c:extLst>
          </c:dPt>
          <c:dPt>
            <c:idx val="5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51D-4CA2-B072-C38EE8271752}"/>
              </c:ext>
            </c:extLst>
          </c:dPt>
          <c:dPt>
            <c:idx val="6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51D-4CA2-B072-C38EE8271752}"/>
              </c:ext>
            </c:extLst>
          </c:dPt>
          <c:dPt>
            <c:idx val="7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51D-4CA2-B072-C38EE8271752}"/>
              </c:ext>
            </c:extLst>
          </c:dPt>
          <c:dPt>
            <c:idx val="8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51D-4CA2-B072-C38EE827175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4F1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Another position</c:v>
                </c:pt>
                <c:pt idx="1">
                  <c:v>Unhappy</c:v>
                </c:pt>
                <c:pt idx="2">
                  <c:v>More money</c:v>
                </c:pt>
                <c:pt idx="3">
                  <c:v>Career change</c:v>
                </c:pt>
                <c:pt idx="4">
                  <c:v>Hours</c:v>
                </c:pt>
                <c:pt idx="5">
                  <c:v>Attendance</c:v>
                </c:pt>
                <c:pt idx="6">
                  <c:v>Relocation</c:v>
                </c:pt>
                <c:pt idx="7">
                  <c:v>Return to school</c:v>
                </c:pt>
                <c:pt idx="8">
                  <c:v>Performance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14</c:v>
                </c:pt>
                <c:pt idx="2">
                  <c:v>11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5</c:v>
                </c:pt>
                <c:pt idx="7">
                  <c:v>5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51D-4CA2-B072-C38EE82717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peaks in two departments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3C-459E-96C4-98C1DBFB026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3C-459E-96C4-98C1DBFB0260}"/>
              </c:ext>
            </c:extLst>
          </c:dPt>
          <c:dPt>
            <c:idx val="2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3C-459E-96C4-98C1DBFB0260}"/>
              </c:ext>
            </c:extLst>
          </c:dPt>
          <c:dPt>
            <c:idx val="3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3C-459E-96C4-98C1DBFB0260}"/>
              </c:ext>
            </c:extLst>
          </c:dPt>
          <c:dPt>
            <c:idx val="4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83C-459E-96C4-98C1DBFB026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4F1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Production</c:v>
                </c:pt>
                <c:pt idx="1">
                  <c:v>Software Engineering</c:v>
                </c:pt>
                <c:pt idx="2">
                  <c:v>Admin Offices</c:v>
                </c:pt>
                <c:pt idx="3">
                  <c:v>IT/IS</c:v>
                </c:pt>
                <c:pt idx="4">
                  <c:v>Sales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39.700000000000003</c:v>
                </c:pt>
                <c:pt idx="1">
                  <c:v>36.4</c:v>
                </c:pt>
                <c:pt idx="2">
                  <c:v>22.2</c:v>
                </c:pt>
                <c:pt idx="3">
                  <c:v>20</c:v>
                </c:pt>
                <c:pt idx="4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3C-459E-96C4-98C1DBFB02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differs sharply by source</c:v>
                </c:pt>
              </c:strCache>
            </c:strRef>
          </c:tx>
          <c:spPr>
            <a:solidFill>
              <a:srgbClr val="21A36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25-4A74-9F7B-68123365816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C25-4A74-9F7B-68123365816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C25-4A74-9F7B-681233658165}"/>
              </c:ext>
            </c:extLst>
          </c:dPt>
          <c:dPt>
            <c:idx val="3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25-4A74-9F7B-681233658165}"/>
              </c:ext>
            </c:extLst>
          </c:dPt>
          <c:dPt>
            <c:idx val="4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25-4A74-9F7B-681233658165}"/>
              </c:ext>
            </c:extLst>
          </c:dPt>
          <c:dPt>
            <c:idx val="5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C25-4A74-9F7B-681233658165}"/>
              </c:ext>
            </c:extLst>
          </c:dPt>
          <c:dPt>
            <c:idx val="6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C25-4A74-9F7B-681233658165}"/>
              </c:ext>
            </c:extLst>
          </c:dPt>
          <c:dPt>
            <c:idx val="7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C25-4A74-9F7B-681233658165}"/>
              </c:ext>
            </c:extLst>
          </c:dPt>
          <c:dPt>
            <c:idx val="8"/>
            <c:invertIfNegative val="0"/>
            <c:bubble3D val="0"/>
            <c:spPr>
              <a:solidFill>
                <a:srgbClr val="5B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C25-4A74-9F7B-68123365816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4F1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Website</c:v>
                </c:pt>
                <c:pt idx="1">
                  <c:v>Employee Referral</c:v>
                </c:pt>
                <c:pt idx="2">
                  <c:v>LinkedIn</c:v>
                </c:pt>
                <c:pt idx="3">
                  <c:v>Indeed</c:v>
                </c:pt>
                <c:pt idx="4">
                  <c:v>CareerBuilder</c:v>
                </c:pt>
                <c:pt idx="5">
                  <c:v>Other</c:v>
                </c:pt>
                <c:pt idx="6">
                  <c:v>Diversity Job Fair</c:v>
                </c:pt>
                <c:pt idx="7">
                  <c:v>Google Search</c:v>
                </c:pt>
                <c:pt idx="8">
                  <c:v>Online Web App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92.3</c:v>
                </c:pt>
                <c:pt idx="1">
                  <c:v>83.9</c:v>
                </c:pt>
                <c:pt idx="2">
                  <c:v>76.3</c:v>
                </c:pt>
                <c:pt idx="3">
                  <c:v>75.900000000000006</c:v>
                </c:pt>
                <c:pt idx="4">
                  <c:v>52.2</c:v>
                </c:pt>
                <c:pt idx="5">
                  <c:v>50</c:v>
                </c:pt>
                <c:pt idx="6">
                  <c:v>44.8</c:v>
                </c:pt>
                <c:pt idx="7">
                  <c:v>38.799999999999997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C25-4A74-9F7B-6812336581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95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Excel for cleaning, Power BI for transformation, DAX and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hires rated Exceeds Expectations, by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Terminated employee counts by recruitment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five reasons account for 59.6% of the 104 terminations.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Attrition rate by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share of hires by recruitment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CLEANING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14600" y="640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640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658368"/>
            <a:ext cx="237744" cy="237744"/>
          </a:xfrm>
          <a:prstGeom prst="ellipse">
            <a:avLst/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179" y="715427"/>
            <a:ext cx="123627" cy="12362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DEFENSE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373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Merson's Recruitment &amp; Employee Attrition Analytics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hiring channels build a lasting workforce, and why do people leave?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 Enoch Ayo-oni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Wetin Dey Code Academy · September 2026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104</a:t>
            </a:r>
            <a:endParaRPr lang="en-US" sz="88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terminated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311 records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33.4%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workflow, end to 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one pipeline from raw HR data to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640080" cy="640080"/>
          </a:xfrm>
          <a:prstGeom prst="ellipse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A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1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blanks, duplicates, labels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01752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19202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0" y="2148840"/>
            <a:ext cx="640080" cy="64008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6819" y="23024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76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A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74320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274320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model, 9 DAX measures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301752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663440" y="19202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46320" y="2148840"/>
            <a:ext cx="640080" cy="64008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39" y="230245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6072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A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7"/>
          <p:cNvSpPr txBox="1"/>
          <p:nvPr/>
        </p:nvSpPr>
        <p:spPr>
          <a:xfrm>
            <a:off x="484632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Visualise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dashboards, 5 objective views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01752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766560" y="1920240"/>
            <a:ext cx="1920240" cy="2651760"/>
          </a:xfrm>
          <a:prstGeom prst="roundRect">
            <a:avLst>
              <a:gd name="adj" fmla="val 4878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949440" y="2148840"/>
            <a:ext cx="640080" cy="64008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059" y="2302459"/>
            <a:ext cx="332842" cy="33284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8638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A3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23"/>
          <p:cNvSpPr txBox="1"/>
          <p:nvPr/>
        </p:nvSpPr>
        <p:spPr>
          <a:xfrm>
            <a:off x="694944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69494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694944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HR actions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-457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5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Merson is a North American metals processing and manufacturing company serving customers across many industrial sectors through an extensive network of facilities.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surfaces workforce patterns to support data-driven HR decisions on hiring channels and retention.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2801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463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DIVERSE WORKFORCE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96596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486" y="210860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29400" y="196596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21086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4652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80960" y="196596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06" y="210860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808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577840" y="324612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0486" y="338876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629400" y="324612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046" y="3388766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680960" y="3246120"/>
            <a:ext cx="594360" cy="594360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3606" y="3388766"/>
            <a:ext cx="309067" cy="309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98080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-457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5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source &amp;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312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325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Kaggle.com HR dataset, 311 employee records analysed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51576" y="137160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137160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1424" y="13716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21424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2880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56832" y="1828800"/>
            <a:ext cx="1636776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182880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1636776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28600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74536" y="22860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74536" y="22860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TermReason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7432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EmpSatisfaction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27432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DateofHire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20040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20040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DateofTermination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56832" y="320040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56832" y="320040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354787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one period; may not reflect today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354787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recruitment cost or time-to-hire data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54787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qualitative detail behind each exit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354787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categorical, not continuous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-457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5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 &amp;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recruitment 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29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patterns by recruitment source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88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termination; main drivers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46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0050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performance and satisfaction by source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28016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1463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8745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sources differ in performance, retention and satisfaction?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attrition vary across sources and departments?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major termination reasons, and which are largest?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85C3A"/>
          </a:solidFill>
          <a:ln w="12700">
            <a:solidFill>
              <a:srgbClr val="18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F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Cleaned in Microsoft Excel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FE8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 </a:t>
            </a:r>
            <a:r>
              <a:rPr lang="en-US" sz="1150" dirty="0">
                <a:solidFill>
                  <a:srgbClr val="D8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 to EmployeeId, DOB to DateofBirth, TermReason to TerminationReason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FE8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 </a:t>
            </a:r>
            <a:r>
              <a:rPr lang="en-US" sz="1150" dirty="0">
                <a:solidFill>
                  <a:srgbClr val="D8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 found none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FE8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40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 </a:t>
            </a:r>
            <a:r>
              <a:rPr lang="en-US" sz="1150" dirty="0">
                <a:solidFill>
                  <a:srgbClr val="D8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found none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FE8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 </a:t>
            </a:r>
            <a:r>
              <a:rPr lang="en-US" sz="1150" dirty="0">
                <a:solidFill>
                  <a:srgbClr val="D8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to Male (135), F to Female (176)</a:t>
            </a:r>
            <a:endParaRPr lang="en-US" sz="1150" dirty="0"/>
          </a:p>
        </p:txBody>
      </p:sp>
      <p:pic>
        <p:nvPicPr>
          <p:cNvPr id="15" name="Image 1" descr="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65760"/>
            <a:ext cx="4206240" cy="1961849"/>
          </a:xfrm>
          <a:prstGeom prst="rect">
            <a:avLst/>
          </a:prstGeom>
        </p:spPr>
      </p:pic>
      <p:pic>
        <p:nvPicPr>
          <p:cNvPr id="16" name="Image 2" descr="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697480"/>
            <a:ext cx="4206240" cy="194879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17720" y="50292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617720" y="502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 cells found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17720" y="283464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177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found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Excel cleaning steps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18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Transformed in Power BI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Excel data was imported into Power BI, where nine DAX measures were created to power every KPI, chart and dashboard.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457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8686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12527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8686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12527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1691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1772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Employees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20756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29400" y="1691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Terminations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0756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80560" y="2514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1772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617720" y="2898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 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29400" y="2514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665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2898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80560" y="33375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1772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617720" y="37216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29400" y="33375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Expectations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37216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0" y="41605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1772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Percentage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617720" y="4544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OBJECTIVE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Performance varies by recruitment source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20.7%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Diversity Job Fair hires Exceed Expectations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4572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023360" y="548640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3192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is next at 16.1%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and LinkedIn, the largest channels, produce below-average top performers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is lowest at 4.1%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457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OBJECTIVE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9144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Terminations cluster in a few channels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terminations from Google Search, the most of any 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572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57200" y="548640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(21) and LinkedIn (18) follow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lost only 5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Online Web Application and Other lost 1 each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OBJECTIVE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employees leave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59.6%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104 exits come from the top five reasons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4572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023360" y="548640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3192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position (20), Unhappy (14), More money (11), Career change (9), Hours (8)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voluntary and preventable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Performance-related exits: only 4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457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OBJECTIVE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9144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Attrition peaks in two departments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39.7%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in Production, the highest department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572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57200" y="548640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follows at 36.4%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lowest at 16.1%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also 67% of the workforce (209 of 311)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OBJECTIVE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Retention differs sharply by source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92.3%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Website hires are still 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4572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023360" y="548640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3192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83.9% and LinkedIn 76.3% retain well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38.8% and Diversity Job Fair 44.8% are weakest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Web App is a single hire (0% active)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48640"/>
            <a:ext cx="5943600" cy="3749040"/>
          </a:xfrm>
          <a:prstGeom prst="roundRect">
            <a:avLst>
              <a:gd name="adj" fmla="val 1951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pic>
        <p:nvPicPr>
          <p:cNvPr id="3" name="Image 0" descr="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"/>
            <a:ext cx="5760720" cy="32937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5486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960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Workforce &amp; Recruitment Overview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011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employees: 207 active, 104 terminated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67.2% of the workforce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(87) and LinkedIn (76) lead hiring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source, status, department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let HR filter every visual.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548640"/>
            <a:ext cx="5943600" cy="3749040"/>
          </a:xfrm>
          <a:prstGeom prst="roundRect">
            <a:avLst>
              <a:gd name="adj" fmla="val 1951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pic>
        <p:nvPicPr>
          <p:cNvPr id="3" name="Image 0" descr="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40080"/>
            <a:ext cx="5760720" cy="32601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486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Attrition Analysis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terminated, 88 voluntary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rate: 33.4%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 staff leave most (55.6%)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performers leave least (21.6%)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let HR filter every visual.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-457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5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33.4%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371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were terminated: 104 of 311 records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A3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59.6%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exits come from five largely voluntary reasons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&gt;50%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workforce was hired through Indeed and LinkedIn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uneven: Production, Software Engineering and channels like Google Search drive it. Source, performance, department and status together shape workforce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-457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5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258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sourcing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32588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Indeed and LinkedIn as core; shift budget toward Employee Referral and Website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0253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025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weak channels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0253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Google Search and Diversity Job Fair; focus on early-tenure onboarding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919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7919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exit drivers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67919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engagement, career paths, pay reviews and exit interviews, starting in Production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5584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5584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performance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35584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low performers; recognise, develop and reward top performers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62C"/>
          </a:solidFill>
          <a:ln w="12700">
            <a:solidFill>
              <a:srgbClr val="1F26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03250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3250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outcomes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03250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retention, performance and satisfaction when choosing recruitment channels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CLEANING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0" y="731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4F1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47472" cy="347472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" y="3100913"/>
            <a:ext cx="180685" cy="1806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017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ayoolaoni09@gmail.com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347472" cy="347472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73" y="3558113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3474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07036127122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347472" cy="347472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" y="4015313"/>
            <a:ext cx="180685" cy="18068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931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linkedin.com/in/AyoolaAyooni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4389120"/>
            <a:ext cx="347472" cy="347472"/>
          </a:xfrm>
          <a:prstGeom prst="ellipse">
            <a:avLst/>
          </a:prstGeom>
          <a:solidFill>
            <a:srgbClr val="2A333A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73" y="4472513"/>
            <a:ext cx="180685" cy="18068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8720" y="4389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github.com/OAAlago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1004</Words>
  <Application>Microsoft Office PowerPoint</Application>
  <PresentationFormat>On-screen Show (16:9)</PresentationFormat>
  <Paragraphs>225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Merson's Recruitment &amp; Employee Attrition Analytics</dc:title>
  <dc:subject>PptxGenJS Presentation</dc:subject>
  <dc:creator>PptxGenJS</dc:creator>
  <cp:lastModifiedBy>OA</cp:lastModifiedBy>
  <cp:revision>2</cp:revision>
  <dcterms:created xsi:type="dcterms:W3CDTF">2026-09-30T10:58:10Z</dcterms:created>
  <dcterms:modified xsi:type="dcterms:W3CDTF">2026-09-30T20:09:14Z</dcterms:modified>
</cp:coreProperties>
</file>