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varies by recruitment source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D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Diversity Job Fair</c:v>
                  </c:pt>
                  <c:pt idx="1">
                    <c:v>Employee Referral</c:v>
                  </c:pt>
                  <c:pt idx="2">
                    <c:v>Indeed</c:v>
                  </c:pt>
                  <c:pt idx="3">
                    <c:v>LinkedIn</c:v>
                  </c:pt>
                  <c:pt idx="4">
                    <c:v>CareerBuilder</c:v>
                  </c:pt>
                  <c:pt idx="5">
                    <c:v>Website</c:v>
                  </c:pt>
                  <c:pt idx="6">
                    <c:v>Google Search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20.7</c:v>
                </c:pt>
                <c:pt idx="1">
                  <c:v>16.1</c:v>
                </c:pt>
                <c:pt idx="2">
                  <c:v>13.8</c:v>
                </c:pt>
                <c:pt idx="3">
                  <c:v>11.8</c:v>
                </c:pt>
                <c:pt idx="4">
                  <c:v>8.7</c:v>
                </c:pt>
                <c:pt idx="5">
                  <c:v>7.7</c:v>
                </c:pt>
                <c:pt idx="6">
                  <c:v>4.1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F2D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D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Terminations concentrate in a few channels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D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Google Search</c:v>
                  </c:pt>
                  <c:pt idx="1">
                    <c:v>Indeed</c:v>
                  </c:pt>
                  <c:pt idx="2">
                    <c:v>LinkedIn</c:v>
                  </c:pt>
                  <c:pt idx="3">
                    <c:v>Diversity Job Fair</c:v>
                  </c:pt>
                  <c:pt idx="4">
                    <c:v>CareerBuilder</c:v>
                  </c:pt>
                  <c:pt idx="5">
                    <c:v>Employee Referral</c:v>
                  </c:pt>
                  <c:pt idx="6">
                    <c:v>Website / Web App / Other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21</c:v>
                </c:pt>
                <c:pt idx="2">
                  <c:v>18</c:v>
                </c:pt>
                <c:pt idx="3">
                  <c:v>16</c:v>
                </c:pt>
                <c:pt idx="4">
                  <c:v>11</c:v>
                </c:pt>
                <c:pt idx="5">
                  <c:v>5</c:v>
                </c:pt>
                <c:pt idx="6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1F2D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D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Why employees leave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D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Another position</c:v>
                  </c:pt>
                  <c:pt idx="1">
                    <c:v>Unhappy</c:v>
                  </c:pt>
                  <c:pt idx="2">
                    <c:v>More money</c:v>
                  </c:pt>
                  <c:pt idx="3">
                    <c:v>Career change</c:v>
                  </c:pt>
                  <c:pt idx="4">
                    <c:v>Hours</c:v>
                  </c:pt>
                  <c:pt idx="5">
                    <c:v>Attendance</c:v>
                  </c:pt>
                  <c:pt idx="6">
                    <c:v>Relocation</c:v>
                  </c:pt>
                  <c:pt idx="7">
                    <c:v>Return to school</c:v>
                  </c:pt>
                  <c:pt idx="8">
                    <c:v>Performance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14</c:v>
                </c:pt>
                <c:pt idx="2">
                  <c:v>11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5</c:v>
                </c:pt>
                <c:pt idx="7">
                  <c:v>5</c:v>
                </c:pt>
                <c:pt idx="8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1F2D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D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peaks in two departments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D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3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Production</c:v>
                  </c:pt>
                  <c:pt idx="1">
                    <c:v>Software Engineering</c:v>
                  </c:pt>
                  <c:pt idx="2">
                    <c:v>Admin Offices</c:v>
                  </c:pt>
                  <c:pt idx="3">
                    <c:v>IT/IS</c:v>
                  </c:pt>
                  <c:pt idx="4">
                    <c:v>Sales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39.7</c:v>
                </c:pt>
                <c:pt idx="1">
                  <c:v>36.4</c:v>
                </c:pt>
                <c:pt idx="2">
                  <c:v>22.2</c:v>
                </c:pt>
                <c:pt idx="3">
                  <c:v>20</c:v>
                </c:pt>
                <c:pt idx="4">
                  <c:v>16.1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F2D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D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differs sharply by recruitment source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D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3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3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FA6A3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Website</c:v>
                  </c:pt>
                  <c:pt idx="1">
                    <c:v>Employee Referral</c:v>
                  </c:pt>
                  <c:pt idx="2">
                    <c:v>LinkedIn</c:v>
                  </c:pt>
                  <c:pt idx="3">
                    <c:v>Indeed</c:v>
                  </c:pt>
                  <c:pt idx="4">
                    <c:v>CareerBuilder</c:v>
                  </c:pt>
                  <c:pt idx="5">
                    <c:v>Other</c:v>
                  </c:pt>
                  <c:pt idx="6">
                    <c:v>Diversity Job Fair</c:v>
                  </c:pt>
                  <c:pt idx="7">
                    <c:v>Google Search</c:v>
                  </c:pt>
                  <c:pt idx="8">
                    <c:v>Online Web App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92.3</c:v>
                </c:pt>
                <c:pt idx="1">
                  <c:v>83.9</c:v>
                </c:pt>
                <c:pt idx="2">
                  <c:v>76.3</c:v>
                </c:pt>
                <c:pt idx="3">
                  <c:v>75.9</c:v>
                </c:pt>
                <c:pt idx="4">
                  <c:v>52.2</c:v>
                </c:pt>
                <c:pt idx="5">
                  <c:v>50</c:v>
                </c:pt>
                <c:pt idx="6">
                  <c:v>44.8</c:v>
                </c:pt>
                <c:pt idx="7">
                  <c:v>38.8</c:v>
                </c:pt>
                <c:pt idx="8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F2D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D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Power BI analysis of recruitment sources and attrition at Merson.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of hires rated Exceeds Expectations, by recruitment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FB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DEFENSE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Merson's Recruitment &amp; Employee Attrition Analytics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hiring channels build a lasting, high-performing workforce, and why do employees leave?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Ayoola Enoch Ayo-oni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Wetin Dey Code Academy  ·  September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097280"/>
            <a:ext cx="2103120" cy="210312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600200"/>
            <a:ext cx="1097280" cy="1097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3017520"/>
            <a:ext cx="1097280" cy="109728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2918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6802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5544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D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60320" y="141732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97480" y="1554480"/>
            <a:ext cx="502920" cy="50292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210" y="16802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49040" y="15544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D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&amp; Overview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141732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00600" y="1554480"/>
            <a:ext cx="502920" cy="50292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330" y="168021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852160" y="15544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D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80060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Questions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766560" y="141732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03720" y="1554480"/>
            <a:ext cx="502920" cy="50292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450" y="168021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955280" y="15544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D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690372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57200" y="310896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94360" y="3246120"/>
            <a:ext cx="502920" cy="50292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337185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45920" y="32461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D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594360" y="3886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&amp; Analysis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2560320" y="310896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697480" y="3246120"/>
            <a:ext cx="502920" cy="50292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3210" y="337185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749040" y="32461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D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25"/>
          <p:cNvSpPr txBox="1"/>
          <p:nvPr/>
        </p:nvSpPr>
        <p:spPr>
          <a:xfrm>
            <a:off x="2697480" y="3886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4663440" y="310896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800600" y="3246120"/>
            <a:ext cx="502920" cy="50292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6330" y="3371850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852160" y="32461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D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8" name="Text 29"/>
          <p:cNvSpPr txBox="1"/>
          <p:nvPr/>
        </p:nvSpPr>
        <p:spPr>
          <a:xfrm>
            <a:off x="4800600" y="3886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6766560" y="310896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903720" y="3246120"/>
            <a:ext cx="502920" cy="50292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9450" y="3371850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955280" y="32461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D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43" name="Text 33"/>
          <p:cNvSpPr txBox="1"/>
          <p:nvPr/>
        </p:nvSpPr>
        <p:spPr>
          <a:xfrm>
            <a:off x="6903720" y="3886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Introduction: Merson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North American metals processing and manufacturing company serving customers across many industrial sectors through an extensive network of facilities.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315468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analysis?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surface workforce patterns that support data-driven HR decisions on hiring channels and retention.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1737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66360" y="1618488"/>
            <a:ext cx="502920" cy="502920"/>
          </a:xfrm>
          <a:prstGeom prst="ellipse">
            <a:avLst/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090" y="1744218"/>
            <a:ext cx="251460" cy="2514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760720" y="16459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03720" y="1371600"/>
            <a:ext cx="1737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40880" y="1618488"/>
            <a:ext cx="502920" cy="502920"/>
          </a:xfrm>
          <a:prstGeom prst="ellipse">
            <a:avLst/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610" y="1744218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35240" y="16459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0" y="2514600"/>
            <a:ext cx="1737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166360" y="2761488"/>
            <a:ext cx="502920" cy="502920"/>
          </a:xfrm>
          <a:prstGeom prst="ellipse">
            <a:avLst/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90" y="2887218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760720" y="27889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903720" y="2514600"/>
            <a:ext cx="1737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0" y="2761488"/>
            <a:ext cx="502920" cy="502920"/>
          </a:xfrm>
          <a:prstGeom prst="ellipse">
            <a:avLst/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610" y="288721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35240" y="27889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029200" y="3657600"/>
            <a:ext cx="1737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166360" y="3904488"/>
            <a:ext cx="502920" cy="502920"/>
          </a:xfrm>
          <a:prstGeom prst="ellipse">
            <a:avLst/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090" y="4030218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760720" y="39319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6903720" y="3657600"/>
            <a:ext cx="1737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040880" y="3904488"/>
            <a:ext cx="502920" cy="502920"/>
          </a:xfrm>
          <a:prstGeom prst="ellipse">
            <a:avLst/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610" y="4030218"/>
            <a:ext cx="251460" cy="25146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635240" y="39319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45920" cy="1143000"/>
          </a:xfrm>
          <a:prstGeom prst="roundRect">
            <a:avLst>
              <a:gd name="adj" fmla="val 9600"/>
            </a:avLst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1371600"/>
            <a:ext cx="1645920" cy="1143000"/>
          </a:xfrm>
          <a:prstGeom prst="roundRect">
            <a:avLst>
              <a:gd name="adj" fmla="val 9600"/>
            </a:avLst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240280" y="1417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1371600"/>
            <a:ext cx="1645920" cy="1143000"/>
          </a:xfrm>
          <a:prstGeom prst="roundRect">
            <a:avLst>
              <a:gd name="adj" fmla="val 9600"/>
            </a:avLst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023360" y="1417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311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 analysed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51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Kaggle.com HR dataset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740664" cy="347472"/>
          </a:xfrm>
          <a:prstGeom prst="roundRect">
            <a:avLst>
              <a:gd name="adj" fmla="val 50000"/>
            </a:avLst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37560"/>
            <a:ext cx="74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07592" y="3337560"/>
            <a:ext cx="896112" cy="347472"/>
          </a:xfrm>
          <a:prstGeom prst="roundRect">
            <a:avLst>
              <a:gd name="adj" fmla="val 50000"/>
            </a:avLst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07592" y="333756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13432" y="333756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13432" y="33375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1595628" cy="347472"/>
          </a:xfrm>
          <a:prstGeom prst="roundRect">
            <a:avLst>
              <a:gd name="adj" fmla="val 50000"/>
            </a:avLst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749040"/>
            <a:ext cx="1595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RecruitmentSource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62556" y="3749040"/>
            <a:ext cx="1517904" cy="347472"/>
          </a:xfrm>
          <a:prstGeom prst="roundRect">
            <a:avLst>
              <a:gd name="adj" fmla="val 50000"/>
            </a:avLst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62556" y="374904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PerformanceScore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90188" y="3749040"/>
            <a:ext cx="1517904" cy="347472"/>
          </a:xfrm>
          <a:prstGeom prst="roundRect">
            <a:avLst>
              <a:gd name="adj" fmla="val 50000"/>
            </a:avLst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90188" y="374904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EmploymentStatus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41605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TermReason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618488" y="4160520"/>
            <a:ext cx="1440180" cy="347472"/>
          </a:xfrm>
          <a:prstGeom prst="roundRect">
            <a:avLst>
              <a:gd name="adj" fmla="val 50000"/>
            </a:avLst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18488" y="4160520"/>
            <a:ext cx="14401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EmpSatisfaction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68396" y="416052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168396" y="41605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DateofHire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1595628" cy="347472"/>
          </a:xfrm>
          <a:prstGeom prst="roundRect">
            <a:avLst>
              <a:gd name="adj" fmla="val 50000"/>
            </a:avLst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4572000"/>
            <a:ext cx="1595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DateofTermination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62556" y="4572000"/>
            <a:ext cx="896112" cy="347472"/>
          </a:xfrm>
          <a:prstGeom prst="roundRect">
            <a:avLst>
              <a:gd name="adj" fmla="val 50000"/>
            </a:avLst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162556" y="457200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68396" y="4572000"/>
            <a:ext cx="1129284" cy="347472"/>
          </a:xfrm>
          <a:prstGeom prst="roundRect">
            <a:avLst>
              <a:gd name="adj" fmla="val 50000"/>
            </a:avLst>
          </a:prstGeom>
          <a:solidFill>
            <a:srgbClr val="CFEDEB"/>
          </a:solidFill>
          <a:ln w="12700">
            <a:solidFill>
              <a:srgbClr val="CFED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68396" y="4572000"/>
            <a:ext cx="11292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ManagerName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52160" y="1371600"/>
            <a:ext cx="2834640" cy="3429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035040" y="1481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035040" y="1874520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from a specific period, so it may not reflect today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recruitment cost or time-to-hire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qualitative detail behind each exit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categorical, not continuous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Analysis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75488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365760" cy="36576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across recruitment sources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78024"/>
            <a:ext cx="365760" cy="36576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4505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patterns by recruitment source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54096"/>
            <a:ext cx="365760" cy="36576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026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termination and main drivers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30168"/>
            <a:ext cx="365760" cy="36576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6027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levels by department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365760" cy="36576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178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performance and satisfaction by source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40680" y="1371600"/>
            <a:ext cx="3246120" cy="3429000"/>
          </a:xfrm>
          <a:prstGeom prst="roundRect">
            <a:avLst>
              <a:gd name="adj" fmla="val 3380"/>
            </a:avLst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62356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questions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18745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recruitment sources differ in performance, retention and satisfaction?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attrition vary across sources and departments?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major termination reasons, and which are largest?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 CLEANING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645920"/>
            <a:ext cx="640080" cy="64008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column headers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 → EmployeeId, DOB → DateofBirth, RaceDesc → Race, TermReason → TerminationReason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60320" y="146304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645920"/>
            <a:ext cx="640080" cy="64008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8059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9748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detection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with Find &amp; Replace: no blank cells found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663440" y="146304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03520" y="1645920"/>
            <a:ext cx="640080" cy="64008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8059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0060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80060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800600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run: none found, none removed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766560" y="146304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06640" y="1645920"/>
            <a:ext cx="640080" cy="64008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18059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0372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labeling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903720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Recoded M/F to Male/Female for clear labels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TRANSFORMATION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Transformation: DAX Measures in Power BI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was imported into Power BI, where nine DAX measures drive every KPI and chart.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 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 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 Employees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2898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Terminations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78892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29000" y="2898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 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78892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17920" y="2898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0080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 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74904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429000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Expectations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74904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217920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Percentage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· OBJECTIVE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varies by recruitment source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94360" y="1463040"/>
          <a:ext cx="49377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3716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14447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20.7%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Diversity Job Fair hires "Exceed Expectations"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926080"/>
            <a:ext cx="2743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Referral is next at 16.1%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 and LinkedIn, the biggest channels by volume, deliver below-average top performers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is lowest at 4.1%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· OBJECTIVE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Terminations concentrate in a few channels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94360" y="1463040"/>
          <a:ext cx="49377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3716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14447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terminations from Google Search, the highest of any source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926080"/>
            <a:ext cx="2743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 (21) and LinkedIn (18) follow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Referral lost only 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Online Web Application and Other lost 1 each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· OBJECTIVE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employees leave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94360" y="1463040"/>
          <a:ext cx="49377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3716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14447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59.6%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104 exits come from the top five reasons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926080"/>
            <a:ext cx="2743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position (20), Unhappy (14), More money (11), Career change (9), Hours (8)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voluntary and preventable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Performance-related exits: only 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· OBJECTIVE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peaks in two departments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94360" y="1463040"/>
          <a:ext cx="49377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3716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14447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39.7%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in Production, the highest department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926080"/>
            <a:ext cx="2743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follows at 36.4%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is lowest at 16.1%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is also 67% of all employees (209)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· OBJECTIVE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differs sharply by recruitment source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94360" y="1463040"/>
          <a:ext cx="49377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3716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14447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92.3%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Website hires are still active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926080"/>
            <a:ext cx="2743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Referral 83.9%, LinkedIn 76.3%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38.8% and Diversity Job Fair 44.8% are weakest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Web App is a single hire (0% active)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VISUALIZATION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&amp; Recruitment Overview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94360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media/image12.png">    </p:cNvPr>
          <p:cNvPicPr>
            <a:picLocks noChangeAspect="1"/>
          </p:cNvPicPr>
          <p:nvPr/>
        </p:nvPicPr>
        <p:blipFill>
          <a:blip r:embed="rId1"/>
          <a:srcRect l="-1487" r="-1487" t="0" b="0"/>
          <a:stretch/>
        </p:blipFill>
        <p:spPr>
          <a:xfrm>
            <a:off x="548640" y="1371600"/>
            <a:ext cx="5760720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75120" y="1371600"/>
            <a:ext cx="2011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total employees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active, 104 terminated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is 67.2% of the workforce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 (87) and LinkedIn (76) lead hiring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filter by source, status and department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VISUALIZATION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Analysis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94360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media/image13.png">    </p:cNvPr>
          <p:cNvPicPr>
            <a:picLocks noChangeAspect="1"/>
          </p:cNvPicPr>
          <p:nvPr/>
        </p:nvPicPr>
        <p:blipFill>
          <a:blip r:embed="rId1"/>
          <a:srcRect l="-1487" r="-1487" t="0" b="0"/>
          <a:stretch/>
        </p:blipFill>
        <p:spPr>
          <a:xfrm>
            <a:off x="548640" y="1371600"/>
            <a:ext cx="5760720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75120" y="1371600"/>
            <a:ext cx="2011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terminated, 88 voluntary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rate: 33.4%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 staff leave most (55.6%)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performers leave least (21.6%)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filter by performance, reason and department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B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7475A"/>
          </a:solidFill>
          <a:ln w="12700">
            <a:solidFill>
              <a:srgbClr val="174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33.4%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of 311 employees were terminated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7475A"/>
          </a:solidFill>
          <a:ln w="12700">
            <a:solidFill>
              <a:srgbClr val="174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59.6%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exits explained by five largely voluntary reasons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7475A"/>
          </a:solidFill>
          <a:ln w="12700">
            <a:solidFill>
              <a:srgbClr val="174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&gt;50%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workforce came via Indeed and LinkedIn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not evenly spread: Production and Software Engineering, and channels like Google Search, drive most of it. Recruitment source, performance, department and employment status together shape workforce outcomes.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62306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sourcing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Indeed and LinkedIn as core; shift budget toward Employee Referral and Website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508760"/>
            <a:ext cx="457200" cy="45720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162306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3192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weak channels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Google Search and Diversity Job Fair; focus on early-tenure onboarding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1508760"/>
            <a:ext cx="457200" cy="45720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230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2084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exit drivers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engagement, career paths, pay reviews and exit interviews, starting in Production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154680"/>
            <a:ext cx="40690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291840"/>
            <a:ext cx="457200" cy="45720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340614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4300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performance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8862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low performers; recognise, develop and reward top performers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663440" y="3154680"/>
            <a:ext cx="40690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00600" y="3291840"/>
            <a:ext cx="457200" cy="457200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340614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with outcomes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846320" y="38862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retention, performance and satisfaction in channel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B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347472" cy="347472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3058668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29718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ayoolaoni09@gmail.com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347472" cy="347472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3515868"/>
            <a:ext cx="173736" cy="1737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34290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07036127122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886200"/>
            <a:ext cx="347472" cy="347472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3973068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3886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linkedin.com/in/AyoolaAyooni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40080" y="4343400"/>
            <a:ext cx="347472" cy="347472"/>
          </a:xfrm>
          <a:prstGeom prst="ellipse">
            <a:avLst/>
          </a:prstGeom>
          <a:solidFill>
            <a:srgbClr val="1FA6A3"/>
          </a:solidFill>
          <a:ln w="12700">
            <a:solidFill>
              <a:srgbClr val="1FA6A3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" y="4430268"/>
            <a:ext cx="173736" cy="17373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43434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github.com/OAAlago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Merson's Recruitment &amp; Employee Attrition Analytics</dc:title>
  <dc:subject>PptxGenJS Presentation</dc:subject>
  <dc:creator>PptxGenJS</dc:creator>
  <cp:lastModifiedBy>PptxGenJS</cp:lastModifiedBy>
  <cp:revision>1</cp:revision>
  <dcterms:created xsi:type="dcterms:W3CDTF">2026-09-30T09:31:06Z</dcterms:created>
  <dcterms:modified xsi:type="dcterms:W3CDTF">2026-09-30T09:31:06Z</dcterms:modified>
</cp:coreProperties>
</file>